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6473952"/>
            <a:ext cx="11384280" cy="0"/>
          </a:xfrm>
          <a:prstGeom prst="line">
            <a:avLst/>
          </a:prstGeom>
          <a:noFill/>
          <a:ln w="12700">
            <a:solidFill>
              <a:srgbClr val="2432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4710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7081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HOSTEL MANAGEMENT  /  EVENT-DRIVEN FLOW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109960" y="654710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081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081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081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-1051560"/>
            <a:ext cx="4846320" cy="4846320"/>
          </a:xfrm>
          <a:prstGeom prst="arc">
            <a:avLst/>
          </a:prstGeom>
          <a:noFill/>
          <a:ln w="19050">
            <a:solidFill>
              <a:srgbClr val="42D6C5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-594360"/>
            <a:ext cx="3931920" cy="3931920"/>
          </a:xfrm>
          <a:prstGeom prst="arc">
            <a:avLst/>
          </a:prstGeom>
          <a:noFill/>
          <a:ln w="12700">
            <a:solidFill>
              <a:srgbClr val="54B7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76656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17263A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85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42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REVIEW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7132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Event-driven</a:t>
            </a:r>
            <a:endParaRPr lang="en-US" sz="3300" dirty="0"/>
          </a:p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hostel management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640080" y="309067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 flow  /  failure handling  /  Grafana  /  cache-aside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5486400" cy="0"/>
          </a:xfrm>
          <a:prstGeom prst="line">
            <a:avLst/>
          </a:prstGeom>
          <a:noFill/>
          <a:ln w="25400">
            <a:solidFill>
              <a:srgbClr val="42D6C5"/>
            </a:solidFill>
            <a:prstDash val="solid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640080" y="397764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visual walkthrough of how a booking becomes a payment result,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failures are retained or retried, and where we observe the system.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52360" y="4251960"/>
            <a:ext cx="1234440" cy="868680"/>
          </a:xfrm>
          <a:prstGeom prst="roundRect">
            <a:avLst>
              <a:gd name="adj" fmla="val 12632"/>
            </a:avLst>
          </a:prstGeom>
          <a:solidFill>
            <a:srgbClr val="121D2D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52360" y="4251960"/>
            <a:ext cx="73152" cy="868680"/>
          </a:xfrm>
          <a:prstGeom prst="rect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53528" y="4416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53528" y="47365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034272" y="4352544"/>
            <a:ext cx="1572768" cy="658368"/>
          </a:xfrm>
          <a:prstGeom prst="roundRect">
            <a:avLst>
              <a:gd name="adj" fmla="val 16667"/>
            </a:avLst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4443984"/>
            <a:ext cx="1353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 TOPIC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9125712" y="463600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booking.created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844784" y="4251960"/>
            <a:ext cx="1051560" cy="868680"/>
          </a:xfrm>
          <a:prstGeom prst="roundRect">
            <a:avLst>
              <a:gd name="adj" fmla="val 12632"/>
            </a:avLst>
          </a:prstGeom>
          <a:solidFill>
            <a:srgbClr val="121D2D"/>
          </a:solidFill>
          <a:ln w="12700">
            <a:solidFill>
              <a:srgbClr val="54B7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44784" y="4251960"/>
            <a:ext cx="73152" cy="868680"/>
          </a:xfrm>
          <a:prstGeom prst="rect">
            <a:avLst/>
          </a:prstGeom>
          <a:solidFill>
            <a:srgbClr val="54B7FF"/>
          </a:solidFill>
          <a:ln w="12700">
            <a:solidFill>
              <a:srgbClr val="54B7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45952" y="44165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45952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705088" y="4690872"/>
            <a:ext cx="301752" cy="0"/>
          </a:xfrm>
          <a:prstGeom prst="line">
            <a:avLst/>
          </a:prstGeom>
          <a:noFill/>
          <a:ln w="25400">
            <a:solidFill>
              <a:srgbClr val="FFB454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40080" y="58978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42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presentation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081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2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SYSTEM 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services, two topics, one business journey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6128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consumer group gets its own copy of the payment result.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2057400" cy="1024128"/>
          </a:xfrm>
          <a:prstGeom prst="roundRect">
            <a:avLst>
              <a:gd name="adj" fmla="val 10714"/>
            </a:avLst>
          </a:prstGeom>
          <a:solidFill>
            <a:srgbClr val="121D2D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920240"/>
            <a:ext cx="73152" cy="1024128"/>
          </a:xfrm>
          <a:prstGeom prst="rect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0848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 Service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" y="240487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booking + event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2103120"/>
            <a:ext cx="1572768" cy="658368"/>
          </a:xfrm>
          <a:prstGeom prst="roundRect">
            <a:avLst>
              <a:gd name="adj" fmla="val 16667"/>
            </a:avLst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2194560"/>
            <a:ext cx="1353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 TOPIC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337560" y="238658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booking.created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0" y="1920240"/>
            <a:ext cx="2057400" cy="1024128"/>
          </a:xfrm>
          <a:prstGeom prst="roundRect">
            <a:avLst>
              <a:gd name="adj" fmla="val 10714"/>
            </a:avLst>
          </a:prstGeom>
          <a:solidFill>
            <a:srgbClr val="121D2D"/>
          </a:solidFill>
          <a:ln w="12700">
            <a:solidFill>
              <a:srgbClr val="54B7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1920240"/>
            <a:ext cx="73152" cy="1024128"/>
          </a:xfrm>
          <a:prstGeom prst="rect">
            <a:avLst/>
          </a:prstGeom>
          <a:solidFill>
            <a:srgbClr val="54B7FF"/>
          </a:solidFill>
          <a:ln w="12700">
            <a:solidFill>
              <a:srgbClr val="54B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87568" y="20848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Service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87568" y="240487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charges wallet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38160" y="2103120"/>
            <a:ext cx="1572768" cy="658368"/>
          </a:xfrm>
          <a:prstGeom prst="roundRect">
            <a:avLst>
              <a:gd name="adj" fmla="val 16667"/>
            </a:avLst>
          </a:prstGeom>
          <a:solidFill>
            <a:srgbClr val="A98BFF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888" y="2194560"/>
            <a:ext cx="1353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 TOPIC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229600" y="238658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payment.result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378440" y="1353312"/>
            <a:ext cx="1234440" cy="1024128"/>
          </a:xfrm>
          <a:prstGeom prst="roundRect">
            <a:avLst>
              <a:gd name="adj" fmla="val 10714"/>
            </a:avLst>
          </a:prstGeom>
          <a:solidFill>
            <a:srgbClr val="121D2D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78440" y="1353312"/>
            <a:ext cx="73152" cy="1024128"/>
          </a:xfrm>
          <a:prstGeom prst="rect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79608" y="151790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79608" y="183794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378440" y="2788920"/>
            <a:ext cx="1234440" cy="1024128"/>
          </a:xfrm>
          <a:prstGeom prst="roundRect">
            <a:avLst>
              <a:gd name="adj" fmla="val 10714"/>
            </a:avLst>
          </a:prstGeom>
          <a:solidFill>
            <a:srgbClr val="121D2D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2788920"/>
            <a:ext cx="73152" cy="1024128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79608" y="295351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79608" y="327355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60904" y="2432304"/>
            <a:ext cx="539496" cy="0"/>
          </a:xfrm>
          <a:prstGeom prst="line">
            <a:avLst/>
          </a:prstGeom>
          <a:noFill/>
          <a:ln w="30480">
            <a:solidFill>
              <a:srgbClr val="FFB45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846320" y="2432304"/>
            <a:ext cx="594360" cy="0"/>
          </a:xfrm>
          <a:prstGeom prst="line">
            <a:avLst/>
          </a:prstGeom>
          <a:noFill/>
          <a:ln w="30480">
            <a:solidFill>
              <a:srgbClr val="FFB45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571232" y="2432304"/>
            <a:ext cx="521208" cy="0"/>
          </a:xfrm>
          <a:prstGeom prst="line">
            <a:avLst/>
          </a:prstGeom>
          <a:noFill/>
          <a:ln w="30480">
            <a:solidFill>
              <a:srgbClr val="A98BF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738360" y="2432304"/>
            <a:ext cx="576072" cy="-603504"/>
          </a:xfrm>
          <a:prstGeom prst="line">
            <a:avLst/>
          </a:prstGeom>
          <a:noFill/>
          <a:ln w="26670">
            <a:solidFill>
              <a:srgbClr val="42D6C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738360" y="2432304"/>
            <a:ext cx="576072" cy="859536"/>
          </a:xfrm>
          <a:prstGeom prst="line">
            <a:avLst/>
          </a:prstGeom>
          <a:noFill/>
          <a:ln w="26670">
            <a:solidFill>
              <a:srgbClr val="FFB45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760720" y="3246120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17263A"/>
          </a:solidFill>
          <a:ln w="12700">
            <a:solidFill>
              <a:srgbClr val="54B7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325526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4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payment-group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0012680" y="425196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17263A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12680" y="42611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42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booking-group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738360" y="461772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17263A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38360" y="462686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notification-group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58368" y="4233672"/>
            <a:ext cx="0" cy="320040"/>
          </a:xfrm>
          <a:prstGeom prst="line">
            <a:avLst/>
          </a:prstGeom>
          <a:noFill/>
          <a:ln w="38100">
            <a:solidFill>
              <a:srgbClr val="42D6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" y="4160520"/>
            <a:ext cx="3822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 preserves ordering inside a partition. The message key is the booking ID, so related events can stay together.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4233672"/>
            <a:ext cx="0" cy="320040"/>
          </a:xfrm>
          <a:prstGeom prst="line">
            <a:avLst/>
          </a:prstGeom>
          <a:noFill/>
          <a:ln w="38100">
            <a:solidFill>
              <a:srgbClr val="A98B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4160520"/>
            <a:ext cx="4050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payment.result is delivered independently to Booking and Notification because they use different consumer groups.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372600" y="5257800"/>
            <a:ext cx="2148840" cy="502920"/>
          </a:xfrm>
          <a:prstGeom prst="roundRect">
            <a:avLst>
              <a:gd name="adj" fmla="val 21818"/>
            </a:avLst>
          </a:prstGeom>
          <a:solidFill>
            <a:srgbClr val="17263A"/>
          </a:solidFill>
          <a:ln w="12700">
            <a:solidFill>
              <a:srgbClr val="3144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09760" y="53949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fan-out by consumer group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081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2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EVENT 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HTTP request to confirmed booking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6128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flow separates the user-facing write from downstream payment and notification work.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207008" y="178308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848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07592" y="2514600"/>
            <a:ext cx="0" cy="3108960"/>
          </a:xfrm>
          <a:prstGeom prst="line">
            <a:avLst/>
          </a:prstGeom>
          <a:noFill/>
          <a:ln w="12700">
            <a:solidFill>
              <a:srgbClr val="31445E"/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3493008" y="1783080"/>
            <a:ext cx="201168" cy="201168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20848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2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93592" y="2514600"/>
            <a:ext cx="0" cy="3108960"/>
          </a:xfrm>
          <a:prstGeom prst="line">
            <a:avLst/>
          </a:prstGeom>
          <a:noFill/>
          <a:ln w="12700">
            <a:solidFill>
              <a:srgbClr val="31445E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5779008" y="1783080"/>
            <a:ext cx="201168" cy="201168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20848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79592" y="2514600"/>
            <a:ext cx="0" cy="3108960"/>
          </a:xfrm>
          <a:prstGeom prst="line">
            <a:avLst/>
          </a:prstGeom>
          <a:noFill/>
          <a:ln w="12700">
            <a:solidFill>
              <a:srgbClr val="31445E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8065008" y="1783080"/>
            <a:ext cx="201168" cy="201168"/>
          </a:xfrm>
          <a:prstGeom prst="ellipse">
            <a:avLst/>
          </a:prstGeom>
          <a:solidFill>
            <a:srgbClr val="54B7FF"/>
          </a:solidFill>
          <a:ln w="12700">
            <a:solidFill>
              <a:srgbClr val="54B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6680" y="20848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65592" y="2514600"/>
            <a:ext cx="0" cy="3108960"/>
          </a:xfrm>
          <a:prstGeom prst="line">
            <a:avLst/>
          </a:prstGeom>
          <a:noFill/>
          <a:ln w="12700">
            <a:solidFill>
              <a:srgbClr val="31445E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0351008" y="1783080"/>
            <a:ext cx="201168" cy="201168"/>
          </a:xfrm>
          <a:prstGeom prst="ellipse">
            <a:avLst/>
          </a:prstGeom>
          <a:solidFill>
            <a:srgbClr val="A98BFF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2680" y="20848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451592" y="2514600"/>
            <a:ext cx="0" cy="3108960"/>
          </a:xfrm>
          <a:prstGeom prst="line">
            <a:avLst/>
          </a:prstGeom>
          <a:noFill/>
          <a:ln w="12700">
            <a:solidFill>
              <a:srgbClr val="31445E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896112" y="2880360"/>
            <a:ext cx="1417320" cy="530352"/>
          </a:xfrm>
          <a:prstGeom prst="roundRect">
            <a:avLst>
              <a:gd name="adj" fmla="val 20690"/>
            </a:avLst>
          </a:prstGeom>
          <a:solidFill>
            <a:srgbClr val="121D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" y="29718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/bookings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82112" y="3456432"/>
            <a:ext cx="1417320" cy="530352"/>
          </a:xfrm>
          <a:prstGeom prst="roundRect">
            <a:avLst>
              <a:gd name="adj" fmla="val 20690"/>
            </a:avLst>
          </a:prstGeom>
          <a:solidFill>
            <a:srgbClr val="121D2D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00984" y="35478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 transaction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 + outbox row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68112" y="4041648"/>
            <a:ext cx="1417320" cy="530352"/>
          </a:xfrm>
          <a:prstGeom prst="roundRect">
            <a:avLst>
              <a:gd name="adj" fmla="val 20690"/>
            </a:avLst>
          </a:prstGeom>
          <a:solidFill>
            <a:srgbClr val="121D2D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86984" y="41330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booking.created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54112" y="4572000"/>
            <a:ext cx="1417320" cy="530352"/>
          </a:xfrm>
          <a:prstGeom prst="roundRect">
            <a:avLst>
              <a:gd name="adj" fmla="val 20690"/>
            </a:avLst>
          </a:prstGeom>
          <a:solidFill>
            <a:srgbClr val="121D2D"/>
          </a:solidFill>
          <a:ln w="12700">
            <a:solidFill>
              <a:srgbClr val="54B7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72984" y="46634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wallet debit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/ FAILED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040112" y="5102352"/>
            <a:ext cx="1417320" cy="530352"/>
          </a:xfrm>
          <a:prstGeom prst="roundRect">
            <a:avLst>
              <a:gd name="adj" fmla="val 20690"/>
            </a:avLst>
          </a:prstGeom>
          <a:solidFill>
            <a:srgbClr val="121D2D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58984" y="51937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payment.result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update + email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07592" y="3145536"/>
            <a:ext cx="2286000" cy="566928"/>
          </a:xfrm>
          <a:prstGeom prst="line">
            <a:avLst/>
          </a:prstGeom>
          <a:noFill/>
          <a:ln w="2286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593592" y="3986784"/>
            <a:ext cx="2286000" cy="310896"/>
          </a:xfrm>
          <a:prstGeom prst="line">
            <a:avLst/>
          </a:prstGeom>
          <a:noFill/>
          <a:ln w="22860">
            <a:solidFill>
              <a:srgbClr val="42D6C5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879592" y="4562856"/>
            <a:ext cx="2286000" cy="265176"/>
          </a:xfrm>
          <a:prstGeom prst="line">
            <a:avLst/>
          </a:prstGeom>
          <a:noFill/>
          <a:ln w="22860">
            <a:solidFill>
              <a:srgbClr val="FFB45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165592" y="5093208"/>
            <a:ext cx="2286000" cy="265176"/>
          </a:xfrm>
          <a:prstGeom prst="line">
            <a:avLst/>
          </a:prstGeom>
          <a:noFill/>
          <a:ln w="22860">
            <a:solidFill>
              <a:srgbClr val="54B7FF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914400" y="589788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user gets a booking response after the local transaction. Kafka continues the journey asynchronously.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081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2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RELIABILITY BOUNDARY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outbox closes the database-to-Kafka gap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6128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 and its event are committed together; publishing can safely happen later.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645920"/>
            <a:ext cx="3840480" cy="3566160"/>
          </a:xfrm>
          <a:prstGeom prst="roundRect">
            <a:avLst>
              <a:gd name="adj" fmla="val 3077"/>
            </a:avLst>
          </a:prstGeom>
          <a:solidFill>
            <a:srgbClr val="121D2D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019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42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DATABASE TRANSACTION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70432" y="2514600"/>
            <a:ext cx="2816352" cy="685800"/>
          </a:xfrm>
          <a:prstGeom prst="roundRect">
            <a:avLst>
              <a:gd name="adj" fmla="val 16000"/>
            </a:avLst>
          </a:prstGeom>
          <a:solidFill>
            <a:srgbClr val="17263A"/>
          </a:solidFill>
          <a:ln w="12700">
            <a:solidFill>
              <a:srgbClr val="3144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67004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 row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70432" y="3657600"/>
            <a:ext cx="2816352" cy="685800"/>
          </a:xfrm>
          <a:prstGeom prst="roundRect">
            <a:avLst>
              <a:gd name="adj" fmla="val 16000"/>
            </a:avLst>
          </a:prstGeom>
          <a:solidFill>
            <a:srgbClr val="17263A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381304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outbox event  /  PENDING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78608" y="3218688"/>
            <a:ext cx="0" cy="384048"/>
          </a:xfrm>
          <a:prstGeom prst="line">
            <a:avLst/>
          </a:prstGeom>
          <a:noFill/>
          <a:ln w="25400">
            <a:solidFill>
              <a:srgbClr val="42D6C5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097280" y="463600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or rollback together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26280" y="3410712"/>
            <a:ext cx="1188720" cy="0"/>
          </a:xfrm>
          <a:prstGeom prst="line">
            <a:avLst/>
          </a:prstGeom>
          <a:noFill/>
          <a:ln w="27940">
            <a:solidFill>
              <a:srgbClr val="FFB45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760720" y="2103120"/>
            <a:ext cx="2103120" cy="2606040"/>
          </a:xfrm>
          <a:prstGeom prst="roundRect">
            <a:avLst>
              <a:gd name="adj" fmla="val 5217"/>
            </a:avLst>
          </a:prstGeom>
          <a:solidFill>
            <a:srgbClr val="121D2D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7608" y="239572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OUTBOX WORKER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72200" y="2852928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publish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mark published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007608" y="416052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17263A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07608" y="416966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5 seconds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882128" y="3410712"/>
            <a:ext cx="1097280" cy="0"/>
          </a:xfrm>
          <a:prstGeom prst="line">
            <a:avLst/>
          </a:prstGeom>
          <a:noFill/>
          <a:ln w="27940">
            <a:solidFill>
              <a:srgbClr val="FFB45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34272" y="2103120"/>
            <a:ext cx="2423160" cy="2606040"/>
          </a:xfrm>
          <a:prstGeom prst="roundRect">
            <a:avLst>
              <a:gd name="adj" fmla="val 4528"/>
            </a:avLst>
          </a:prstGeom>
          <a:solidFill>
            <a:srgbClr val="121D2D"/>
          </a:solidFill>
          <a:ln w="12700">
            <a:solidFill>
              <a:srgbClr val="54B7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28048" y="23957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4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81160" y="2971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booking.created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72600" y="36576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retryable delivery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5605272"/>
            <a:ext cx="0" cy="320040"/>
          </a:xfrm>
          <a:prstGeom prst="line">
            <a:avLst/>
          </a:prstGeom>
          <a:noFill/>
          <a:ln w="38100">
            <a:solidFill>
              <a:srgbClr val="6FE0A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5532120"/>
            <a:ext cx="4645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mode: Kafka down means the row stays PENDING and is retried later. The booking itself is not lost.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97880" y="5605272"/>
            <a:ext cx="0" cy="32004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07608" y="5532120"/>
            <a:ext cx="52852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implementation marks failed attempts back to PENDING and increments attempts. Add a cap/DLQ policy before production.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081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2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EXCEPTION HANDLING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different failures, two different recovery paths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6128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presentation point is where the handler throws and where the event remains recoverable.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121D2D"/>
          </a:solidFill>
          <a:ln w="12700">
            <a:solidFill>
              <a:srgbClr val="54B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745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54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CONSUMER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60120" y="2496312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505456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89888" y="24231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 booking event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78992" y="2752344"/>
            <a:ext cx="0" cy="310896"/>
          </a:xfrm>
          <a:prstGeom prst="line">
            <a:avLst/>
          </a:prstGeom>
          <a:noFill/>
          <a:ln w="15240">
            <a:solidFill>
              <a:srgbClr val="31445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60120" y="3154680"/>
            <a:ext cx="237744" cy="237744"/>
          </a:xfrm>
          <a:prstGeom prst="ellipse">
            <a:avLst/>
          </a:prstGeom>
          <a:solidFill>
            <a:srgbClr val="54B7FF"/>
          </a:solidFill>
          <a:ln w="12700">
            <a:solidFill>
              <a:srgbClr val="54B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6382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89888" y="30815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payment / debit wallet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78992" y="3410712"/>
            <a:ext cx="0" cy="310896"/>
          </a:xfrm>
          <a:prstGeom prst="line">
            <a:avLst/>
          </a:prstGeom>
          <a:noFill/>
          <a:ln w="15240">
            <a:solidFill>
              <a:srgbClr val="31445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0120" y="3813048"/>
            <a:ext cx="237744" cy="237744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82219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89888" y="37398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payment.result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78992" y="4069080"/>
            <a:ext cx="0" cy="310896"/>
          </a:xfrm>
          <a:prstGeom prst="line">
            <a:avLst/>
          </a:prstGeom>
          <a:noFill/>
          <a:ln w="15240">
            <a:solidFill>
              <a:srgbClr val="31445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0120" y="4471416"/>
            <a:ext cx="237744" cy="237744"/>
          </a:xfrm>
          <a:prstGeom prst="ellipse">
            <a:avLst/>
          </a:prstGeom>
          <a:solidFill>
            <a:srgbClr val="6FE0A1"/>
          </a:solidFill>
          <a:ln w="12700">
            <a:solidFill>
              <a:srgbClr val="6FE0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48056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89888" y="43982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increment consumed metric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5102352"/>
            <a:ext cx="4434840" cy="384048"/>
          </a:xfrm>
          <a:prstGeom prst="roundRect">
            <a:avLst>
              <a:gd name="adj" fmla="val 28571"/>
            </a:avLst>
          </a:prstGeom>
          <a:solidFill>
            <a:srgbClr val="253B42"/>
          </a:solidFill>
          <a:ln w="12700">
            <a:solidFill>
              <a:srgbClr val="6FE0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193792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E0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success: offset can commit after full handler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1627632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121D2D"/>
          </a:solidFill>
          <a:ln w="12700">
            <a:solidFill>
              <a:srgbClr val="FF6B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18745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F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BRANCH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20840" y="24871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error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577072" y="2606040"/>
            <a:ext cx="658368" cy="0"/>
          </a:xfrm>
          <a:prstGeom prst="line">
            <a:avLst/>
          </a:prstGeom>
          <a:noFill/>
          <a:ln w="25400">
            <a:solidFill>
              <a:srgbClr val="FF6B7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308592" y="2286000"/>
            <a:ext cx="1691640" cy="658368"/>
          </a:xfrm>
          <a:prstGeom prst="roundRect">
            <a:avLst>
              <a:gd name="adj" fmla="val 16667"/>
            </a:avLst>
          </a:prstGeom>
          <a:solidFill>
            <a:srgbClr val="17263A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36608" y="248716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FAILED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149840" y="2999232"/>
            <a:ext cx="0" cy="457200"/>
          </a:xfrm>
          <a:prstGeom prst="line">
            <a:avLst/>
          </a:prstGeom>
          <a:noFill/>
          <a:ln w="25400">
            <a:solidFill>
              <a:srgbClr val="FF6B7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869680" y="3529584"/>
            <a:ext cx="2423160" cy="658368"/>
          </a:xfrm>
          <a:prstGeom prst="roundRect">
            <a:avLst>
              <a:gd name="adj" fmla="val 16667"/>
            </a:avLst>
          </a:prstGeom>
          <a:solidFill>
            <a:srgbClr val="17263A"/>
          </a:solidFill>
          <a:ln w="12700">
            <a:solidFill>
              <a:srgbClr val="FF6B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70848" y="37307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fails?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0040112" y="4206240"/>
            <a:ext cx="0" cy="411480"/>
          </a:xfrm>
          <a:prstGeom prst="line">
            <a:avLst/>
          </a:prstGeom>
          <a:noFill/>
          <a:ln w="25400">
            <a:solidFill>
              <a:srgbClr val="FF6B76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812280" y="4663440"/>
            <a:ext cx="4160520" cy="658368"/>
          </a:xfrm>
          <a:prstGeom prst="roundRect">
            <a:avLst>
              <a:gd name="adj" fmla="val 16667"/>
            </a:avLst>
          </a:prstGeom>
          <a:solidFill>
            <a:srgbClr val="3D2028"/>
          </a:solidFill>
          <a:ln w="12700">
            <a:solidFill>
              <a:srgbClr val="FF6B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4864608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throw → Kafka retries / offset remains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77240" y="597103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 follows the same principle: email failure is rethrown so the message is not silently acknowledged.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081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2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RETRY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is useful only when the next attempt can succeed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6128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are three layers: producer retry, outbox retry, and consumer redelivery.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743200" cy="3429000"/>
          </a:xfrm>
          <a:prstGeom prst="roundRect">
            <a:avLst>
              <a:gd name="adj" fmla="val 4000"/>
            </a:avLst>
          </a:prstGeom>
          <a:solidFill>
            <a:srgbClr val="121D2D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1031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Producer retry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32688" y="2816352"/>
            <a:ext cx="109728" cy="109728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7432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KafkaJS producer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32688" y="3319272"/>
            <a:ext cx="109728" cy="109728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32461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attempts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32688" y="3822192"/>
            <a:ext cx="109728" cy="109728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37490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second delay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32688" y="4325112"/>
            <a:ext cx="109728" cy="109728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42519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idempotent producer enabled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69080" y="1828800"/>
            <a:ext cx="2743200" cy="3429000"/>
          </a:xfrm>
          <a:prstGeom prst="roundRect">
            <a:avLst>
              <a:gd name="adj" fmla="val 4000"/>
            </a:avLst>
          </a:prstGeom>
          <a:solidFill>
            <a:srgbClr val="121D2D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9392" y="21031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2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Outbox retry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61688" y="2816352"/>
            <a:ext cx="109728" cy="109728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9432" y="27432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row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61688" y="3319272"/>
            <a:ext cx="109728" cy="109728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9432" y="32461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of 10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61688" y="3822192"/>
            <a:ext cx="109728" cy="109728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9432" y="37490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poll every 5 seconds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61688" y="4325112"/>
            <a:ext cx="109728" cy="109728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9432" y="42519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 PUBLISHED after send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98080" y="1828800"/>
            <a:ext cx="2743200" cy="3429000"/>
          </a:xfrm>
          <a:prstGeom prst="roundRect">
            <a:avLst>
              <a:gd name="adj" fmla="val 4000"/>
            </a:avLst>
          </a:prstGeom>
          <a:solidFill>
            <a:srgbClr val="121D2D"/>
          </a:solidFill>
          <a:ln w="12700">
            <a:solidFill>
              <a:srgbClr val="54B7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08392" y="21031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4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redelivery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790688" y="2816352"/>
            <a:ext cx="109728" cy="109728"/>
          </a:xfrm>
          <a:prstGeom prst="ellipse">
            <a:avLst/>
          </a:prstGeom>
          <a:solidFill>
            <a:srgbClr val="54B7FF"/>
          </a:solidFill>
          <a:ln w="12700">
            <a:solidFill>
              <a:srgbClr val="54B7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28432" y="27432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handler throws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90688" y="3319272"/>
            <a:ext cx="109728" cy="109728"/>
          </a:xfrm>
          <a:prstGeom prst="ellipse">
            <a:avLst/>
          </a:prstGeom>
          <a:solidFill>
            <a:srgbClr val="54B7FF"/>
          </a:solidFill>
          <a:ln w="12700">
            <a:solidFill>
              <a:srgbClr val="54B7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28432" y="32461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offset not completed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90688" y="3822192"/>
            <a:ext cx="109728" cy="109728"/>
          </a:xfrm>
          <a:prstGeom prst="ellipse">
            <a:avLst/>
          </a:prstGeom>
          <a:solidFill>
            <a:srgbClr val="54B7FF"/>
          </a:solidFill>
          <a:ln w="12700">
            <a:solidFill>
              <a:srgbClr val="54B7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28432" y="37490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 retries on restart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90688" y="4325112"/>
            <a:ext cx="109728" cy="109728"/>
          </a:xfrm>
          <a:prstGeom prst="ellipse">
            <a:avLst/>
          </a:prstGeom>
          <a:solidFill>
            <a:srgbClr val="54B7FF"/>
          </a:solidFill>
          <a:ln w="12700">
            <a:solidFill>
              <a:srgbClr val="54B7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28432" y="42519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failed metric increments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10712" y="3538728"/>
            <a:ext cx="566928" cy="0"/>
          </a:xfrm>
          <a:prstGeom prst="line">
            <a:avLst/>
          </a:prstGeom>
          <a:noFill/>
          <a:ln w="25400">
            <a:solidFill>
              <a:srgbClr val="31445E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839712" y="3538728"/>
            <a:ext cx="566928" cy="0"/>
          </a:xfrm>
          <a:prstGeom prst="line">
            <a:avLst/>
          </a:prstGeom>
          <a:noFill/>
          <a:ln w="25400">
            <a:solidFill>
              <a:srgbClr val="31445E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05840" y="5669280"/>
            <a:ext cx="10058400" cy="457200"/>
          </a:xfrm>
          <a:prstGeom prst="roundRect">
            <a:avLst>
              <a:gd name="adj" fmla="val 24000"/>
            </a:avLst>
          </a:prstGeom>
          <a:solidFill>
            <a:srgbClr val="332B20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88720" y="5797296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question to answer in the room: what stops a permanent poison message from retrying forever?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081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2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CURRENT IMPLEMENTATION NOTES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already strong, and what to call out honestly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6128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presentation talking points, not hidden surprises.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691640"/>
            <a:ext cx="914400" cy="411480"/>
          </a:xfrm>
          <a:prstGeom prst="roundRect">
            <a:avLst>
              <a:gd name="adj" fmla="val 26667"/>
            </a:avLst>
          </a:prstGeom>
          <a:solidFill>
            <a:srgbClr val="6FE0A1"/>
          </a:solidFill>
          <a:ln w="12700">
            <a:solidFill>
              <a:srgbClr val="6FE0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7922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874520" y="172821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Outbox transaction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56048" y="173736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 + event are committed together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74520" y="2203704"/>
            <a:ext cx="9189720" cy="0"/>
          </a:xfrm>
          <a:prstGeom prst="line">
            <a:avLst/>
          </a:prstGeom>
          <a:noFill/>
          <a:ln w="8890">
            <a:solidFill>
              <a:srgbClr val="31445E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658368" y="2350008"/>
            <a:ext cx="914400" cy="411480"/>
          </a:xfrm>
          <a:prstGeom prst="roundRect">
            <a:avLst>
              <a:gd name="adj" fmla="val 26667"/>
            </a:avLst>
          </a:prstGeom>
          <a:solidFill>
            <a:srgbClr val="6FE0A1"/>
          </a:solidFill>
          <a:ln w="12700">
            <a:solidFill>
              <a:srgbClr val="6FE0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4505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74520" y="2386584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Idempotent producer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56048" y="239572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reduces duplicate sends on ambiguous retries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74520" y="2862072"/>
            <a:ext cx="9189720" cy="0"/>
          </a:xfrm>
          <a:prstGeom prst="line">
            <a:avLst/>
          </a:prstGeom>
          <a:noFill/>
          <a:ln w="8890">
            <a:solidFill>
              <a:srgbClr val="31445E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658368" y="3008376"/>
            <a:ext cx="914400" cy="411480"/>
          </a:xfrm>
          <a:prstGeom prst="roundRect">
            <a:avLst>
              <a:gd name="adj" fmla="val 26667"/>
            </a:avLst>
          </a:prstGeom>
          <a:solidFill>
            <a:srgbClr val="6FE0A1"/>
          </a:solidFill>
          <a:ln w="12700">
            <a:solidFill>
              <a:srgbClr val="6FE0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1089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874520" y="304495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Throw on downstream failure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56048" y="3054096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the source event recoverable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74520" y="3520440"/>
            <a:ext cx="9189720" cy="0"/>
          </a:xfrm>
          <a:prstGeom prst="line">
            <a:avLst/>
          </a:prstGeom>
          <a:noFill/>
          <a:ln w="8890">
            <a:solidFill>
              <a:srgbClr val="31445E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658368" y="3666744"/>
            <a:ext cx="914400" cy="411480"/>
          </a:xfrm>
          <a:prstGeom prst="roundRect">
            <a:avLst>
              <a:gd name="adj" fmla="val 26667"/>
            </a:avLst>
          </a:prstGeom>
          <a:solidFill>
            <a:srgbClr val="FF6B76"/>
          </a:solidFill>
          <a:ln w="12700">
            <a:solidFill>
              <a:srgbClr val="FF6B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7673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874520" y="37033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throw remains in Payment consumer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56048" y="371246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or gate TEST KAFKA FAILURE before live demo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178808"/>
            <a:ext cx="9189720" cy="0"/>
          </a:xfrm>
          <a:prstGeom prst="line">
            <a:avLst/>
          </a:prstGeom>
          <a:noFill/>
          <a:ln w="8890">
            <a:solidFill>
              <a:srgbClr val="31445E"/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658368" y="4325112"/>
            <a:ext cx="914400" cy="411480"/>
          </a:xfrm>
          <a:prstGeom prst="roundRect">
            <a:avLst>
              <a:gd name="adj" fmla="val 26667"/>
            </a:avLst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42569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874520" y="436168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DLQ / retry cap yet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56048" y="4370832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poison message can keep failing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837176"/>
            <a:ext cx="9189720" cy="0"/>
          </a:xfrm>
          <a:prstGeom prst="line">
            <a:avLst/>
          </a:prstGeom>
          <a:noFill/>
          <a:ln w="8890">
            <a:solidFill>
              <a:srgbClr val="31445E"/>
            </a:solidFill>
            <a:prstDash val="solid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658368" y="4983480"/>
            <a:ext cx="914400" cy="411480"/>
          </a:xfrm>
          <a:prstGeom prst="roundRect">
            <a:avLst>
              <a:gd name="adj" fmla="val 26667"/>
            </a:avLst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508406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874520" y="502005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uses any payload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56048" y="502920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validation would make contracts safer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5495544"/>
            <a:ext cx="9189720" cy="0"/>
          </a:xfrm>
          <a:prstGeom prst="line">
            <a:avLst/>
          </a:prstGeom>
          <a:noFill/>
          <a:ln w="8890">
            <a:solidFill>
              <a:srgbClr val="31445E"/>
            </a:solidFill>
            <a:prstDash val="solid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8503920" y="5806440"/>
            <a:ext cx="2560320" cy="310896"/>
          </a:xfrm>
          <a:prstGeom prst="roundRect">
            <a:avLst>
              <a:gd name="adj" fmla="val 35294"/>
            </a:avLst>
          </a:prstGeom>
          <a:solidFill>
            <a:srgbClr val="3D2028"/>
          </a:solidFill>
          <a:ln w="12700">
            <a:solidFill>
              <a:srgbClr val="FF6B7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13648" y="5888736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TEST FAILURE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081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2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GRAFANA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panel turns Kafka health into a story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6128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live presentation can show these panels while this slide explains what each signal means.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572768"/>
            <a:ext cx="7543800" cy="4343400"/>
          </a:xfrm>
          <a:prstGeom prst="roundRect">
            <a:avLst>
              <a:gd name="adj" fmla="val 2526"/>
            </a:avLst>
          </a:prstGeom>
          <a:solidFill>
            <a:srgbClr val="101A29"/>
          </a:solidFill>
          <a:ln w="12700">
            <a:solidFill>
              <a:srgbClr val="3144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42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 OVERVIEW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1600200" cy="694944"/>
          </a:xfrm>
          <a:prstGeom prst="roundRect">
            <a:avLst>
              <a:gd name="adj" fmla="val 15789"/>
            </a:avLst>
          </a:prstGeom>
          <a:solidFill>
            <a:srgbClr val="121D2D"/>
          </a:solidFill>
          <a:ln w="12700">
            <a:solidFill>
              <a:srgbClr val="3144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22585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FE0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14984" y="25877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booking.created lag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51760" y="2148840"/>
            <a:ext cx="1600200" cy="694944"/>
          </a:xfrm>
          <a:prstGeom prst="roundRect">
            <a:avLst>
              <a:gd name="adj" fmla="val 15789"/>
            </a:avLst>
          </a:prstGeom>
          <a:solidFill>
            <a:srgbClr val="121D2D"/>
          </a:solidFill>
          <a:ln w="12700">
            <a:solidFill>
              <a:srgbClr val="3144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98064" y="22585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798064" y="25877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payment.result lag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34840" y="2148840"/>
            <a:ext cx="1600200" cy="694944"/>
          </a:xfrm>
          <a:prstGeom prst="roundRect">
            <a:avLst>
              <a:gd name="adj" fmla="val 15789"/>
            </a:avLst>
          </a:prstGeom>
          <a:solidFill>
            <a:srgbClr val="121D2D"/>
          </a:solidFill>
          <a:ln w="12700">
            <a:solidFill>
              <a:srgbClr val="3144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81144" y="22585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81144" y="25877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failed messages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0" y="2148840"/>
            <a:ext cx="1600200" cy="694944"/>
          </a:xfrm>
          <a:prstGeom prst="roundRect">
            <a:avLst>
              <a:gd name="adj" fmla="val 15789"/>
            </a:avLst>
          </a:prstGeom>
          <a:solidFill>
            <a:srgbClr val="121D2D"/>
          </a:solidFill>
          <a:ln w="12700">
            <a:solidFill>
              <a:srgbClr val="3144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22585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FE0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364224" y="25877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 availability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68680" y="3154680"/>
            <a:ext cx="6903720" cy="2331720"/>
          </a:xfrm>
          <a:prstGeom prst="roundRect">
            <a:avLst>
              <a:gd name="adj" fmla="val 4706"/>
            </a:avLst>
          </a:prstGeom>
          <a:solidFill>
            <a:srgbClr val="121D2D"/>
          </a:solidFill>
          <a:ln w="12700">
            <a:solidFill>
              <a:srgbClr val="3144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34015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lag by partition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43000" y="5074920"/>
            <a:ext cx="6263640" cy="0"/>
          </a:xfrm>
          <a:prstGeom prst="line">
            <a:avLst/>
          </a:prstGeom>
          <a:noFill/>
          <a:ln w="12700">
            <a:solidFill>
              <a:srgbClr val="31445E"/>
            </a:solidFill>
            <a:prstDash val="solid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1143000" y="3794760"/>
            <a:ext cx="0" cy="1280160"/>
          </a:xfrm>
          <a:prstGeom prst="line">
            <a:avLst/>
          </a:prstGeom>
          <a:noFill/>
          <a:ln w="12700">
            <a:solidFill>
              <a:srgbClr val="31445E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280160" y="4663440"/>
            <a:ext cx="548640" cy="-164592"/>
          </a:xfrm>
          <a:prstGeom prst="line">
            <a:avLst/>
          </a:prstGeom>
          <a:noFill/>
          <a:ln w="27940">
            <a:solidFill>
              <a:srgbClr val="42D6C5"/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828800" y="4498848"/>
            <a:ext cx="548640" cy="256032"/>
          </a:xfrm>
          <a:prstGeom prst="line">
            <a:avLst/>
          </a:prstGeom>
          <a:noFill/>
          <a:ln w="27940">
            <a:solidFill>
              <a:srgbClr val="42D6C5"/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2377440" y="4754880"/>
            <a:ext cx="548640" cy="-502920"/>
          </a:xfrm>
          <a:prstGeom prst="line">
            <a:avLst/>
          </a:prstGeom>
          <a:noFill/>
          <a:ln w="27940">
            <a:solidFill>
              <a:srgbClr val="FFB454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2926080" y="4251960"/>
            <a:ext cx="548640" cy="246888"/>
          </a:xfrm>
          <a:prstGeom prst="line">
            <a:avLst/>
          </a:prstGeom>
          <a:noFill/>
          <a:ln w="27940">
            <a:solidFill>
              <a:srgbClr val="FFB454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3474720" y="4498848"/>
            <a:ext cx="548640" cy="-384048"/>
          </a:xfrm>
          <a:prstGeom prst="line">
            <a:avLst/>
          </a:prstGeom>
          <a:noFill/>
          <a:ln w="27940">
            <a:solidFill>
              <a:srgbClr val="FFB454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4023360" y="4114800"/>
            <a:ext cx="548640" cy="182880"/>
          </a:xfrm>
          <a:prstGeom prst="line">
            <a:avLst/>
          </a:prstGeom>
          <a:noFill/>
          <a:ln w="27940">
            <a:solidFill>
              <a:srgbClr val="FFB454"/>
            </a:solidFill>
            <a:prstDash val="solid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4572000" y="4297680"/>
            <a:ext cx="548640" cy="-347472"/>
          </a:xfrm>
          <a:prstGeom prst="line">
            <a:avLst/>
          </a:prstGeom>
          <a:noFill/>
          <a:ln w="27940">
            <a:solidFill>
              <a:srgbClr val="FF6B76"/>
            </a:solidFill>
            <a:prstDash val="solid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5120640" y="3950208"/>
            <a:ext cx="548640" cy="146304"/>
          </a:xfrm>
          <a:prstGeom prst="line">
            <a:avLst/>
          </a:prstGeom>
          <a:noFill/>
          <a:ln w="27940">
            <a:solidFill>
              <a:srgbClr val="FF6B76"/>
            </a:solidFill>
            <a:prstDash val="solid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5669280" y="4096512"/>
            <a:ext cx="548640" cy="-329184"/>
          </a:xfrm>
          <a:prstGeom prst="line">
            <a:avLst/>
          </a:prstGeom>
          <a:noFill/>
          <a:ln w="27940">
            <a:solidFill>
              <a:srgbClr val="FF6B76"/>
            </a:solidFill>
            <a:prstDash val="solid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6217920" y="3767328"/>
            <a:ext cx="548640" cy="146304"/>
          </a:xfrm>
          <a:prstGeom prst="line">
            <a:avLst/>
          </a:prstGeom>
          <a:noFill/>
          <a:ln w="27940">
            <a:solidFill>
              <a:srgbClr val="FF6B76"/>
            </a:solidFill>
            <a:prstDash val="solid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1243584" y="4626864"/>
            <a:ext cx="73152" cy="7315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92224" y="4462272"/>
            <a:ext cx="73152" cy="7315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40864" y="4718304"/>
            <a:ext cx="73152" cy="73152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89504" y="4215384"/>
            <a:ext cx="73152" cy="73152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38144" y="4462272"/>
            <a:ext cx="73152" cy="73152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86784" y="4078224"/>
            <a:ext cx="73152" cy="73152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35424" y="4261104"/>
            <a:ext cx="73152" cy="73152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84064" y="3913632"/>
            <a:ext cx="73152" cy="73152"/>
          </a:xfrm>
          <a:prstGeom prst="ellipse">
            <a:avLst/>
          </a:prstGeom>
          <a:solidFill>
            <a:srgbClr val="FF6B76"/>
          </a:solidFill>
          <a:ln w="12700">
            <a:solidFill>
              <a:srgbClr val="FF6B7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32704" y="4059936"/>
            <a:ext cx="73152" cy="73152"/>
          </a:xfrm>
          <a:prstGeom prst="ellipse">
            <a:avLst/>
          </a:prstGeom>
          <a:solidFill>
            <a:srgbClr val="FF6B76"/>
          </a:solidFill>
          <a:ln w="12700">
            <a:solidFill>
              <a:srgbClr val="FF6B7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81344" y="3730752"/>
            <a:ext cx="73152" cy="73152"/>
          </a:xfrm>
          <a:prstGeom prst="ellipse">
            <a:avLst/>
          </a:prstGeom>
          <a:solidFill>
            <a:srgbClr val="FF6B76"/>
          </a:solidFill>
          <a:ln w="12700">
            <a:solidFill>
              <a:srgbClr val="FF6B7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29984" y="3877056"/>
            <a:ext cx="73152" cy="73152"/>
          </a:xfrm>
          <a:prstGeom prst="ellipse">
            <a:avLst/>
          </a:prstGeom>
          <a:solidFill>
            <a:srgbClr val="FF6B76"/>
          </a:solidFill>
          <a:ln w="12700">
            <a:solidFill>
              <a:srgbClr val="FF6B7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86600" y="521208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→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549640" y="1572768"/>
            <a:ext cx="3063240" cy="4343400"/>
          </a:xfrm>
          <a:prstGeom prst="roundRect">
            <a:avLst>
              <a:gd name="adj" fmla="val 3582"/>
            </a:avLst>
          </a:prstGeom>
          <a:solidFill>
            <a:srgbClr val="121D2D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69680" y="18745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WATCH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915400" y="2496312"/>
            <a:ext cx="118872" cy="118872"/>
          </a:xfrm>
          <a:prstGeom prst="ellipse">
            <a:avLst/>
          </a:prstGeom>
          <a:solidFill>
            <a:srgbClr val="A98BFF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89720" y="24231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Lag rising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189720" y="264261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is behind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915400" y="3182112"/>
            <a:ext cx="118872" cy="118872"/>
          </a:xfrm>
          <a:prstGeom prst="ellipse">
            <a:avLst/>
          </a:prstGeom>
          <a:solidFill>
            <a:srgbClr val="FF6B76"/>
          </a:solidFill>
          <a:ln w="12700">
            <a:solidFill>
              <a:srgbClr val="FF6B7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89720" y="31089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Failed &gt; 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189720" y="332841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handler logs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915400" y="3867912"/>
            <a:ext cx="118872" cy="118872"/>
          </a:xfrm>
          <a:prstGeom prst="ellipse">
            <a:avLst/>
          </a:prstGeom>
          <a:solidFill>
            <a:srgbClr val="A98BFF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89720" y="37947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Producer fails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189720" y="401421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outbox should remain pending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915400" y="4553712"/>
            <a:ext cx="118872" cy="118872"/>
          </a:xfrm>
          <a:prstGeom prst="ellipse">
            <a:avLst/>
          </a:prstGeom>
          <a:solidFill>
            <a:srgbClr val="A98BFF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89720" y="44805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Broker down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9189720" y="470001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availability probe turns red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081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2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CACHE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 types use cache-aside with safe fallback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6128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 accelerates repeated reads; the database remains the source of truth.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240280" cy="1051560"/>
          </a:xfrm>
          <a:prstGeom prst="roundRect">
            <a:avLst>
              <a:gd name="adj" fmla="val 10435"/>
            </a:avLst>
          </a:prstGeom>
          <a:solidFill>
            <a:srgbClr val="121D2D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86000"/>
            <a:ext cx="73152" cy="1051560"/>
          </a:xfrm>
          <a:prstGeom prst="rect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4505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/ Booking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7706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 type request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03320" y="1938528"/>
            <a:ext cx="2194560" cy="1783080"/>
          </a:xfrm>
          <a:prstGeom prst="roundRect">
            <a:avLst>
              <a:gd name="adj" fmla="val 6154"/>
            </a:avLst>
          </a:prstGeom>
          <a:solidFill>
            <a:srgbClr val="121D2D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9080" y="22128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13632" y="26334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room-types:{id}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room-types:all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60920" y="1938528"/>
            <a:ext cx="2194560" cy="1783080"/>
          </a:xfrm>
          <a:prstGeom prst="roundRect">
            <a:avLst>
              <a:gd name="adj" fmla="val 6154"/>
            </a:avLst>
          </a:prstGeom>
          <a:solidFill>
            <a:srgbClr val="121D2D"/>
          </a:solidFill>
          <a:ln w="12700">
            <a:solidFill>
              <a:srgbClr val="54B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22128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4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35240" y="2743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Room_types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017520" y="2807208"/>
            <a:ext cx="640080" cy="0"/>
          </a:xfrm>
          <a:prstGeom prst="line">
            <a:avLst/>
          </a:prstGeom>
          <a:noFill/>
          <a:ln w="25400">
            <a:solidFill>
              <a:srgbClr val="42D6C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925312" y="2807208"/>
            <a:ext cx="1389888" cy="0"/>
          </a:xfrm>
          <a:prstGeom prst="line">
            <a:avLst/>
          </a:prstGeom>
          <a:noFill/>
          <a:ln w="25400">
            <a:solidFill>
              <a:srgbClr val="FFB45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15200" y="3163824"/>
            <a:ext cx="-1389888" cy="0"/>
          </a:xfrm>
          <a:prstGeom prst="line">
            <a:avLst/>
          </a:prstGeom>
          <a:noFill/>
          <a:ln w="19050">
            <a:solidFill>
              <a:srgbClr val="54B7F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57600" y="3383280"/>
            <a:ext cx="-640080" cy="0"/>
          </a:xfrm>
          <a:prstGeom prst="line">
            <a:avLst/>
          </a:prstGeom>
          <a:noFill/>
          <a:ln w="19050">
            <a:solidFill>
              <a:srgbClr val="6FE0A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246120" y="416052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17263A"/>
          </a:solidFill>
          <a:ln w="12700">
            <a:solidFill>
              <a:srgbClr val="6FE0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416966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6FE0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 → return Redis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230368" y="4160520"/>
            <a:ext cx="2468880" cy="274320"/>
          </a:xfrm>
          <a:prstGeom prst="roundRect">
            <a:avLst>
              <a:gd name="adj" fmla="val 50000"/>
            </a:avLst>
          </a:prstGeom>
          <a:solidFill>
            <a:srgbClr val="17263A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416966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 → DB → SET 300s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973568" y="416052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17263A"/>
          </a:solidFill>
          <a:ln w="12700">
            <a:solidFill>
              <a:srgbClr val="54B7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73568" y="41696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4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/ DELETE → invalidate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22960" y="5056632"/>
            <a:ext cx="0" cy="320040"/>
          </a:xfrm>
          <a:prstGeom prst="line">
            <a:avLst/>
          </a:prstGeom>
          <a:noFill/>
          <a:ln w="38100">
            <a:solidFill>
              <a:srgbClr val="6FE0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4983480"/>
            <a:ext cx="5193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 GET/SET/DEL failures are logged and the request falls back to the database. This keeps caching an optimization, not a hard dependency.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72200" y="5056632"/>
            <a:ext cx="0" cy="32004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4983480"/>
            <a:ext cx="4828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Talk track: a five-minute TTL trades freshness for speed. Booking price calculation should be treated as authoritative if price freshness is critical.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081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2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CLOSING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story in one sentence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6128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Reliable local writes, asynchronous work, explicit failure signals.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10652760" cy="1234440"/>
          </a:xfrm>
          <a:prstGeom prst="roundRect">
            <a:avLst>
              <a:gd name="adj" fmla="val 8889"/>
            </a:avLst>
          </a:prstGeom>
          <a:solidFill>
            <a:srgbClr val="121D2D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57400"/>
            <a:ext cx="10012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 the intent → publish the event → process with a consumer group →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throw when recovery is possible → observe the lag and failures.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60120" y="3977640"/>
            <a:ext cx="320040" cy="320040"/>
          </a:xfrm>
          <a:prstGeom prst="ellipse">
            <a:avLst/>
          </a:prstGeom>
          <a:solidFill>
            <a:srgbClr val="42D6C5"/>
          </a:solidFill>
          <a:ln w="12700">
            <a:solidFill>
              <a:srgbClr val="42D6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435608" y="39319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2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Outbox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35608" y="4224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lost booking event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03320" y="3977640"/>
            <a:ext cx="320040" cy="320040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406908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78808" y="39319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78808" y="4224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decoupled services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46520" y="3977640"/>
            <a:ext cx="320040" cy="320040"/>
          </a:xfrm>
          <a:prstGeom prst="ellipse">
            <a:avLst/>
          </a:prstGeom>
          <a:solidFill>
            <a:srgbClr val="54B7FF"/>
          </a:solidFill>
          <a:ln w="12700">
            <a:solidFill>
              <a:srgbClr val="54B7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406908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922008" y="39319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4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22008" y="4224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recoverable failures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89720" y="3977640"/>
            <a:ext cx="320040" cy="320040"/>
          </a:xfrm>
          <a:prstGeom prst="ellipse">
            <a:avLst/>
          </a:prstGeom>
          <a:solidFill>
            <a:srgbClr val="A98BFF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406908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665208" y="39319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65208" y="4224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4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operations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5486400"/>
            <a:ext cx="10287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presenting: remove the forced Payment consumer test throw and decide how you will answer the DLQ / retry-cap question.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081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Hostel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Event-Driven Hostel Management</dc:title>
  <dc:subject>Kafka architecture and observability</dc:subject>
  <dc:creator>Hostel Management Engineering</dc:creator>
  <cp:lastModifiedBy>Hostel Management Engineering</cp:lastModifiedBy>
  <cp:revision>1</cp:revision>
  <dcterms:created xsi:type="dcterms:W3CDTF">2026-09-09T16:27:56Z</dcterms:created>
  <dcterms:modified xsi:type="dcterms:W3CDTF">2026-09-09T16:27:56Z</dcterms:modified>
</cp:coreProperties>
</file>